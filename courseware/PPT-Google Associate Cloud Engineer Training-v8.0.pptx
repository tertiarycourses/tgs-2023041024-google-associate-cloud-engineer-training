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Approx. exam weight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34A853"/>
              </a:solidFill>
            </c:spPr>
          </c:dPt>
          <c:dPt>
            <c:idx val="4"/>
            <c:spPr>
              <a:solidFill>
                <a:srgbClr val="FBBC04"/>
              </a:solidFill>
            </c:spPr>
          </c:dPt>
          <c:cat>
            <c:strRef>
              <c:f>Sheet1!$A$2:$A$6</c:f>
              <c:strCache>
                <c:ptCount val="5"/>
                <c:pt idx="0">
                  <c:v>Environment</c:v>
                </c:pt>
                <c:pt idx="1">
                  <c:v>Planning</c:v>
                </c:pt>
                <c:pt idx="2">
                  <c:v>Deploying</c:v>
                </c:pt>
                <c:pt idx="3">
                  <c:v>Operations</c:v>
                </c:pt>
                <c:pt idx="4">
                  <c:v>Security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</c:v>
                </c:pt>
                <c:pt idx="1">
                  <c:v>0.175</c:v>
                </c:pt>
                <c:pt idx="2">
                  <c:v>0.25</c:v>
                </c:pt>
                <c:pt idx="3">
                  <c:v>0.2</c:v>
                </c:pt>
                <c:pt idx="4">
                  <c:v>0.175</c:v>
                </c:pt>
              </c:numCache>
            </c:numRef>
          </c:val>
        </c:ser>
        <c:dLbls>
          <c:numFmt formatCode="0.0%" sourceLinked="0"/>
          <c:dLblPos val="bestFit"/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p95 latency ms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Misconfigured</c:v>
                </c:pt>
                <c:pt idx="2">
                  <c:v>Remediated</c:v>
                </c:pt>
                <c:pt idx="3">
                  <c:v>Target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182.75</c:v>
                </c:pt>
                <c:pt idx="2">
                  <c:v>91.80000000000001</c:v>
                </c:pt>
                <c:pt idx="3">
                  <c:v>80.75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p95 latency ms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Misconfigured</c:v>
                </c:pt>
                <c:pt idx="2">
                  <c:v>Remediated</c:v>
                </c:pt>
                <c:pt idx="3">
                  <c:v>Target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193.5</c:v>
                </c:pt>
                <c:pt idx="2">
                  <c:v>97.2</c:v>
                </c:pt>
                <c:pt idx="3">
                  <c:v>85.5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p95 latency ms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Misconfigured</c:v>
                </c:pt>
                <c:pt idx="2">
                  <c:v>Remediated</c:v>
                </c:pt>
                <c:pt idx="3">
                  <c:v>Target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204.25</c:v>
                </c:pt>
                <c:pt idx="2">
                  <c:v>102.60000000000001</c:v>
                </c:pt>
                <c:pt idx="3">
                  <c:v>90.25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p95 latency ms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Misconfigured</c:v>
                </c:pt>
                <c:pt idx="2">
                  <c:v>Remediated</c:v>
                </c:pt>
                <c:pt idx="3">
                  <c:v>Target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215.0</c:v>
                </c:pt>
                <c:pt idx="2">
                  <c:v>108.0</c:v>
                </c:pt>
                <c:pt idx="3">
                  <c:v>95.0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p95 latency ms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Misconfigured</c:v>
                </c:pt>
                <c:pt idx="2">
                  <c:v>Remediated</c:v>
                </c:pt>
                <c:pt idx="3">
                  <c:v>Target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105</c:v>
                </c:pt>
                <c:pt idx="1">
                  <c:v>225.75</c:v>
                </c:pt>
                <c:pt idx="2">
                  <c:v>113.4</c:v>
                </c:pt>
                <c:pt idx="3">
                  <c:v>99.75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p95 latency ms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Misconfigured</c:v>
                </c:pt>
                <c:pt idx="2">
                  <c:v>Remediated</c:v>
                </c:pt>
                <c:pt idx="3">
                  <c:v>Target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110</c:v>
                </c:pt>
                <c:pt idx="1">
                  <c:v>236.5</c:v>
                </c:pt>
                <c:pt idx="2">
                  <c:v>118.80000000000001</c:v>
                </c:pt>
                <c:pt idx="3">
                  <c:v>104.5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p95 latency ms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Misconfigured</c:v>
                </c:pt>
                <c:pt idx="2">
                  <c:v>Remediated</c:v>
                </c:pt>
                <c:pt idx="3">
                  <c:v>Target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115</c:v>
                </c:pt>
                <c:pt idx="1">
                  <c:v>247.25</c:v>
                </c:pt>
                <c:pt idx="2">
                  <c:v>124.2</c:v>
                </c:pt>
                <c:pt idx="3">
                  <c:v>109.25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p95 latency ms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Misconfigured</c:v>
                </c:pt>
                <c:pt idx="2">
                  <c:v>Remediated</c:v>
                </c:pt>
                <c:pt idx="3">
                  <c:v>Target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258.0</c:v>
                </c:pt>
                <c:pt idx="2">
                  <c:v>129.60000000000002</c:v>
                </c:pt>
                <c:pt idx="3">
                  <c:v>114.0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p95 latency ms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Misconfigured</c:v>
                </c:pt>
                <c:pt idx="2">
                  <c:v>Remediated</c:v>
                </c:pt>
                <c:pt idx="3">
                  <c:v>Target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</c:v>
                </c:pt>
                <c:pt idx="1">
                  <c:v>268.75</c:v>
                </c:pt>
                <c:pt idx="2">
                  <c:v>135.0</c:v>
                </c:pt>
                <c:pt idx="3">
                  <c:v>118.75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p95 latency ms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Misconfigured</c:v>
                </c:pt>
                <c:pt idx="2">
                  <c:v>Remediated</c:v>
                </c:pt>
                <c:pt idx="3">
                  <c:v>Target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</c:v>
                </c:pt>
                <c:pt idx="1">
                  <c:v>279.5</c:v>
                </c:pt>
                <c:pt idx="2">
                  <c:v>140.4</c:v>
                </c:pt>
                <c:pt idx="3">
                  <c:v>123.5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cp-infrastructure-hero.png"/>
          <p:cNvPicPr>
            <a:picLocks noChangeAspect="1"/>
          </p:cNvPicPr>
          <p:nvPr/>
        </p:nvPicPr>
        <p:blipFill>
          <a:blip r:embed="rId2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03504"/>
            <a:ext cx="164592" cy="525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02920"/>
            <a:ext cx="694944" cy="6949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1481328"/>
            <a:ext cx="4663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SLIDES · WSQ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4709160" cy="1600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Google Associate Cloud Engineer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584448"/>
            <a:ext cx="47091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Course Code  TGS-2023041024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470916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Synchronous e-Learning
4 days · 30 training hrs · 2 assessment hrs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983480"/>
            <a:ext cx="1554480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020056"/>
            <a:ext cx="146303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VERSION 8.0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413248"/>
            <a:ext cx="470916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Conducted by Tertiary Infotech Academy Pte Ltd
UEN 201200696W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ADMIN ·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with TRAQOM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Scan the session QR and verify the submitted record.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Repeat after lunch; do not assume the morning record carries forward.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Scan the separate assessment attendance QR before the papers open.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Keep the confirmation screen available until the trainer verifies the roster.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Attendance is valid only when the learner identity and the correct session window match.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ADMIN · PROFILE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Credentials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trainer confirms current credentials, course role and escalation channel before delivery.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ADMIN · NAMED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Course developer and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Academic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PhD-qualified technology educator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Cloud, AI and software engineering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Trainer evidence and certificates are maintained in the protected course-application records.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ADMIN ·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Learner introductions as a cloud inventory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Current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What systems do you operate?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Console, CLI, networking, data or containers?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Target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Certification, deployment or operations?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Constraint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Device, account, billing or corporate policy?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trainer uses this inventory to pace demonstrations without changing assessed outcomes.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ADMIN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 for a shared cloud classroom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Use only your assigned training project.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Stop resources after each activity and check Billing.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Never paste keys, passwords or tokens into chat or screenshots.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Capture project ID, region and timestamps with results.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When unsure, stop the command and ask before creating a billable or externally reachable resource.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ADMIN · 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 from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Sign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Open course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Select this course by title and TGS code.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Choose resources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Open Learner Slides, Learner Guide and Activities.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Verify 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Confirm v8.0 and TGS-2023041024 before use.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learner copy is the slide PDF in the Learner Guide folder; activity procedures are not embedded in the PPT.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ADMIN · COURSE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Approved course envelope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Programme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WSQ · Cloud Computing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4 days · 30 training hrs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WA 1 hr + PP 1 hr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Synchronous e-Learning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Course design follows ICT-DIT-3020-1.1 and the approved 32-hour envelope.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ADMIN · TSC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TSC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Cloud Computing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TSC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ICT-DIT-3020-1.1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K1–K5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A1–A6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Each topic, activity and assessment item prints its mapped K/A codes.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ADMIN · 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Ability evidence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A1–A2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Set up and test the cloud environment.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A3–A4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Detect and resolve integration issues.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Measure effectiveness against defined metrics.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Escalate unresolved issues with evidence.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Practical Performance tasks map A1–A6 to Activities 1, 5, 8, 9 and 10.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ADMIN ·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evidence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K1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Security and quality standards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K2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Cloud diagnostics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K3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Installation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K4/K5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Integration resolution and database operations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Written Assessment has five open-ended questions: one mapped question for each K code.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ADMIN ·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Set up and test Google Cloud solutions in accordance with security standards.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Detect and resolve Google Cloud integration issues using technical solutions and database administration techniques.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Conduct implementation tests against defined metrics and escalate unresolved Google Cloud issues with evidence.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Every outcome ends in an inspectable artifact.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Slides teach mechanisms; the Learner Guide and Activity PDFs contain the complete procedures.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ADMIN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roadmap · Topics 1–5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Google Cloud and Cloud Computing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GCP Basics and IAM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Virtual Networks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Virtual Machines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Day 1 establishes the environment, identity and network; Day 2 moves into compute and data.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ADMIN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roadmap · Topics 6–10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Interconnecting Networks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Managed 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Kubernetes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Resource Management and Monitoring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Hybrid connectivity, managed services, Kubernetes, monitoring and scaling complete the operational path.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ADMIN · EXAM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Associate Cloud Engineer domain weighting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737360"/>
          <a:ext cx="61264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360920" y="1847088"/>
            <a:ext cx="4069080" cy="36027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62672" y="2176272"/>
            <a:ext cx="3456432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2679192"/>
            <a:ext cx="3401568" cy="2240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Deploying and implementing carries the largest approximate share, but the exam deliberately spans setup, planning, operations and security. Practice must therefore cross service boundaries instead of memorising one product.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ADMIN · BEFORE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and billing readiness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Use a Google Account you control and enable MFA.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Review current eligibility and terms before accepting free credits.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Billing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A payment method may be required; link only the training project.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Guardrail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Create budget alerts before billable resources.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budget is an alert, not a hard spending cap. Delete resources and verify Billing after each activity.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ADMIN · 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Individual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Complete both instruments yourself.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Use approved slides, LG and Activity material only.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Use project ID, commands and observed outputs.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Upload completed papers to https://lms-tms.tertiaryinfotech.com/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answer keys are learner-facing; oral clarification may be used only under the approved assessment process.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ADMIN ·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 instruments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5 open-ended SAQs · K1–K5 · 60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3 coherent practical tasks · A1–A6 · 60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Competent or Not Yet Competent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Follow the Tertiary Infotech assessment appeal process.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PP reuses Activity evidence patterns; it does not introduce unseen services or procedures.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ADMIN · ASSESSMENT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 and sign-off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Briefing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Assessor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Sign-off / appeal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Question papers go to learners; answer keys remain trainer-only.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ADMIN · EXAM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 for Associate Cloud Engineer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Tertiary Exams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Google Associate Cloud Engineer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Practice and timed exam modes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https://exams.tertiaryinfotech.com/practice-exams/google/google-ace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Practice questions are original and blueprint-aligned; they are not exam dumps.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ADMIN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Environment and least-privilege IAM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3–4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VPC and Compute Engine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5–7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Data, hybrid networking and managed services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8–10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GKE, monitoring and autoscaling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Ten folders contain mock data or scripts plus one Activity Guide PDF each.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9052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01 · A2 · K3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96896"/>
            <a:ext cx="9052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Google Cloud and Cloud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67328"/>
            <a:ext cx="905256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Set up a cloud solution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1965960"/>
            <a:ext cx="132588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7E0EA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Projects as operating and trust boundaries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Project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Enabled Apis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Billing Link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Iam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Project state is ACTIVE; intended APIs are enabled; resources resolve to the same project ID.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Projects as operating and trust boundaries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link billing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enable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Project state is ACTIVE; intended APIs are enabled; resources resolve to the same project ID.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Projects as operating and trust boundaries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projects describe $PROJECT_ID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services list --enabled --project=$PROJECT_ID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Google Cloud and Cloud Computing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A2 · K3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resource-manager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1 evidence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67665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827264" y="1783080"/>
            <a:ext cx="36576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27264" y="1783080"/>
            <a:ext cx="91440" cy="4069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7304" y="2029968"/>
            <a:ext cx="2971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523744"/>
            <a:ext cx="2926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controlled fault should move the signal away from baseline. The remediation is accepted only when it returns close to target and the exact configuration change is recorded.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4315968"/>
            <a:ext cx="292608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Indicative teaching data. Learners replace it with measurements from the aligned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Regions, zones and resource scope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Global 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Zone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Multi-Region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Location choice matches latency, residency and availability requirements.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Regions, zones and resource scope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requirement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scope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location choice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failover 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Location choice matches latency, residency and availability requirements.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Regions, zones and resource scope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zones list --filter='region:(asia-southeast1)'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regions describe asia-southeast1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Google Cloud and Cloud Computing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A2 · K3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locations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Regions, zones and resource scope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zonal single 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unsupported service location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cross-region egress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Location choice matches latency, residency and availability requirements.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Shared-responsibility control map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Google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Managed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Customer Configuration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Customer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Every resource has an accountable owner and a testable configuration control.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Shared-responsibility control map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classify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 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collect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Every resource has an accountable owner and a testable configuration control.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Shared-responsibility control map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asset search-all-resources --scope=projects/$PROJECT_NUMBER --format='table(assetType,location)'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Google Cloud and Cloud Computing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A2 · K3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security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Shared-responsibility control map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assuming managed means secured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unowned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evidence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Every resource has an accountable owner and a testable configuration control.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Console, Cloud Shell and local CLI surfaces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Shell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Gcloud Cli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Rest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The intended account and project are active before any mutation.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Console, Cloud Shell and local CLI surfaces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authenticate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issue 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receive operation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 result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The intended account and project are active before any mutation.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Console, Cloud Shell and local CLI surfaces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auth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config configurations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96896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96896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config 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Google Cloud and Cloud Computing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A2 · K3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interact documentation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Console, Cloud Shell and local CLI surfaces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account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configuration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expired 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The intended account and project are active before any mutation.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API enablement and service identities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Service Usage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Service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Iam Grant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Service Endpoint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Enabled service appears in the service list and its agent receives only documented roles.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API enablement and service identities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request enable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long-running operation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 agent created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permission checked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API ready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Enabled service appears in the service list and its agent receives only documented roles.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API enablement and service identities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services enable compute.googleapis.com monitoring.googleapis.com logging.googleapis.com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Google Cloud and Cloud Computing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A2 · K3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service-usage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API enablement and service identities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SERVICE_DISABLED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permission denied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quota project mismatch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Enabled service appears in the service list and its agent receives only documented roles.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Billing attachment and budget signals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Billing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Notification Channel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Billing is enabled and budget thresholds are visible before billable resources are created.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Billing attachment and budget signals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record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thresholds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emit forecast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Billing is enabled and budget thresholds are visible before billable resources are created.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Billing attachment and budget signals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billing projects describe $PROJECT_ID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billing budgets list --billing-account=$BILLING_ACCOUNT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Google Cloud and Cloud Computing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A2 · K3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billing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Billing attachment and budget signals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budget is not a cap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closed account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currency assumption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Billing is enabled and budget thresholds are visible before billable resources are created.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Installation test pyramid for cloud resources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Configuration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Connectivity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Load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Failover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Each test has expected output, observed output, timestamp and owner.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Installation test pyramid for cloud resources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Each test has expected output, observed output, timestamp and owner.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Installation test pyramid for cloud resources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asset search-all-resources --scope=projects/$PROJECT_NUMBER --format=json &gt; inventory.json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Google Cloud and Cloud Computing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A2 · K3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testing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Installation test pyramid for cloud resources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 without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single happy path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rollback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Each test has expected output, observed output, timestamp and owner.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ACE task-domain traceability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Environment 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Planning 17.5%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Deploying 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Operations 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Practice covers both console interpretation and CLI evidence across all five exam domains.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ACE task-domain traceability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map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practice command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diagnose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Practice covers both console interpretation and CLI evidence across all five exam domains.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ACE task-domain traceability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info --format='value(config.paths.global_config_dir)'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Google Cloud and Cloud Computing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A2 · K3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ace-guide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ACE task-domain traceability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memorising product names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ignoring operations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hands-on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Practice covers both console interpretation and CLI evidence across all five exam domains.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75 MIN · A1, A2, K1,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Safe Google Cloud Training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662940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1554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6053328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an account, project, billing guardrails and CLI configuration, then prove the environment is safe to 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1691640"/>
            <a:ext cx="3950208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27264" y="1920240"/>
            <a:ext cx="329184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2322576"/>
            <a:ext cx="3310128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environment-check.txt, budget-policy.json and a project inventory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78224"/>
            <a:ext cx="1874519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check_environment.sh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078224"/>
            <a:ext cx="1874519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budget-policy.json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791456"/>
            <a:ext cx="10835640" cy="78638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4956048"/>
            <a:ext cx="1024128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Full click-by-click instructions are in the Learner Guide and Activity PDF. This slide shows the work product, not the procedure.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 system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prepare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generate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Create an account, project, billing guardrails and CLI configuration, then prove the environment is safe to use.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CHECK_ENVIRONMENT.SH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B949E"/>
                </a:solidFill>
                <a:latin typeface="Courier New"/>
              </a:rPr>
              <a:t>#!/usr/bin/env bash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set -euo pipefail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96896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96896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: "${PROJECT_ID:?Set PROJECT_ID}"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898648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98648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gcloud auth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200400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00400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gcloud config set project "$PROJECT_ID"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50215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50215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gcloud projects describe "$PROJECT_ID"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80390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80390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gcloud services list --enabled --project "$PROJECT_ID"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Use placeholders for project-specific values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Run only in the isolated training project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both success and failure output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Keep secrets out of submitted 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project or region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insufficient IAM or disabled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observed output does not meet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Accept when environment-check.txt, budget-policy.json and a project inventory are complete, timestamped and reproducible.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9052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D3FD2"/>
                </a:solidFill>
                <a:latin typeface="Arial"/>
              </a:rPr>
              <a:t>TOPIC 02 · A1 ·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96896"/>
            <a:ext cx="9052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GCP Basics and IAM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67328"/>
            <a:ext cx="905256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Configure access and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1965960"/>
            <a:ext cx="132588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7E0EA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Resource hierarchy and inherited policy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Organization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Service Resource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Effective access includes direct and inherited allow policies, then applies applicable deny constraints.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Resource hierarchy and inherited policy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attach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inherit downward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combine bindings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evaluate deny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authorize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Effective access includes direct and inherited allow policies, then applies applicable deny constraints.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Resource hierarchy and inherited policy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projects get-iam-policy $PROJECT_ID --format=json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GCP Basics and IAM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A1 · K1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iam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2 evidence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67665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827264" y="1783080"/>
            <a:ext cx="36576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27264" y="1783080"/>
            <a:ext cx="91440" cy="4069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7304" y="2029968"/>
            <a:ext cx="2971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523744"/>
            <a:ext cx="2926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controlled fault should move the signal away from baseline. The remediation is accepted only when it returns close to target and the exact configuration change is recorded.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4315968"/>
            <a:ext cx="292608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Indicative teaching data. Learners replace it with measurements from the aligned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authorization tuple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Principal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Allow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Binding identifies one principal, one role and the narrowest practical resource scope.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authorization tuple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authenticate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resolve permission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collect policies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evaluate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allow or deny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Binding identifies one principal, one role and the narrowest practical resource scope.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authorization tuple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projects add-iam-policy-binding $PROJECT_ID --member=user:learner@example.com --role=roles/viewer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GCP Basics and IAM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A1 · K1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iam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authorization tuple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basic Owner 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misspelled principal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binding on wrong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Binding identifies one principal, one role and the narrowest practical resource scope.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Predefined, custom and basic roles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Permissions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Predefined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Custom 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Basic 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Selected role contains required permissions without unrelated administrative power.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Predefined, custom and basic roles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list required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map permissions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role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Selected role contains required permissions without unrelated administrative power.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Predefined, custom and basic roles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iam roles describe roles/storage.objectViewer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iam roles list --project=$PROJECT_ID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GCP Basics and IAM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A1 · K1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iam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Predefined, custom and basic roles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role drift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unsupported custom permission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basic role in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Selected role contains required permissions without unrelated administrative power.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Service accounts as workload principals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Service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Attached Workload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Access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Target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Workload uses an attached user-managed service account; no long-lived key file is required.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Service accounts as workload principals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workload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metadata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IAM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API call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 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Workload uses an attached user-managed service account; no long-lived key file is required.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Service accounts as workload principals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iam service-accounts create app-runtime --display-name='App runtime'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projects add-iam-policy-binding $PROJECT_ID --member=serviceAccount:app-runtime@$PROJECT_ID.iam.gserviceaccount.com --role=roles/storage.objectViewer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GCP Basics and IAM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A1 · K1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service-accounts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Service accounts as workload principals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default service account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downloaded key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token audience mismatch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Workload uses an attached user-managed service account; no long-lived key file is required.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account impersonation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Token Creator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Short-Lived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Target Service Account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Token is short-lived and the impersonation event is auditable.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account impersonation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authenticate 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authorize impersonation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mint token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call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expire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Token is short-lived and the impersonation event is auditable.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Service account impersonation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auth print-access-token --impersonate-service-account=app-runtime@$PROJECT_ID.iam.gserviceaccount.com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GCP Basics and IAM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A1 · K1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service-accounts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Service account impersonation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missing Token Creator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self-impersonation confusion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cached wrong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Token is short-lived and the impersonation event is auditable.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Organization policy and deny guardrails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Policy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Resource Hierarchy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Enforcement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Policy state and inheritance explain why a request is allowed or rejected.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Organization policy and deny guardrails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inherit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evaluate 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block or allow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Policy state and inheritance explain why a request is allowed or rejected.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Organization policy and deny guardrails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resource-manager org-policies describe constraints/compute.vmExternalIpAccess --project=$PROJECT_ID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GCP Basics and IAM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A1 · K1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org-policy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Organization policy and deny guardrails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constraint unset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policy attached above project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exception not documented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Policy state and inheritance explain why a request is allowed or rejected.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IAM Conditions and time-bound access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Role Binding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Cel Expression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Request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Condition title, expression and scope match the intended temporary access window.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IAM Conditions and time-bound access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evaluate time/resource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grant conditional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expire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Condition title, expression and scope match the intended temporary access window.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IAM Conditions and time-bound access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projects get-iam-policy $PROJECT_ID --format='table(bindings.role,bindings.members,bindings.condition)'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GCP Basics and IAM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A1 · K1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iam-conditions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IAM Conditions and time-bound access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condition on unsupported 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timezone 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broad inherited grant remains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Condition title, expression and scope match the intended temporary access window.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Audit evidence for access changes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Admin Activity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Principalemail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Methodname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Resourcename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Evidence identifies who changed which policy, when, and on which resource.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Audit evidence for access changes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change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audit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Evidence identifies who changed which policy, when, and on which resource.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Audit evidence for access changes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logging read 'protoPayload.methodName:SetIamPolicy' --limit=20 --format=json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GCP Basics and IAM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A1 · K1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audit-logs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02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Audit evidence for access changes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query too broad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project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data-access logs not enabled where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Evidence identifies who changed which policy, when, and on which resource.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75 MIN · A1,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Least-Privilege IAM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662940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1554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6053328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workload service account, grant a narrow role and verify both allowed and denied actions.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1691640"/>
            <a:ext cx="3950208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27264" y="1920240"/>
            <a:ext cx="329184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2322576"/>
            <a:ext cx="3310128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iam-policy-before.json, iam-policy-after.json and access-test.txt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78224"/>
            <a:ext cx="1874519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iam_setup.sh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791456"/>
            <a:ext cx="10835640" cy="78638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4956048"/>
            <a:ext cx="1024128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Full click-by-click instructions are in the Learner Guide and Activity PDF. This slide shows the work product, not the procedure.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2 system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prepare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generate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Create a workload service account, grant a narrow role and verify both allowed and denied actions.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IAM_SETUP.SH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2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B949E"/>
                </a:solidFill>
                <a:latin typeface="Courier New"/>
              </a:rPr>
              <a:t>#!/usr/bin/env bash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set -euo pipefail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96896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96896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SA=app-runtime@$PROJECT_ID.iam.gserviceaccount.com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898648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98648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gcloud iam service-accounts create app-runtime --display-name='ACE app runtime'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200400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00400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gcloud projects add-iam-policy-binding "$PROJECT_ID" --member=serviceAccount:$SA --role=roles/storage.objectViewer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50215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50215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gcloud projects get-iam-policy "$PROJECT_ID" --format=json &gt; iam-policy-after.json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Use placeholders for project-specific values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Run only in the isolated training project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both success and failure output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Keep secrets out of submitted 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2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project or region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insufficient IAM or disabled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observed output does not meet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Accept when iam-policy-before.json, iam-policy-after.json and access-test.txt are complete, timestamped and reproducible.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9052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TOPIC 03 · A3 · K4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96896"/>
            <a:ext cx="9052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Virtual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67328"/>
            <a:ext cx="905256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Plan, deploy and manage networking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1965960"/>
            <a:ext cx="132588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7E0EA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Global VPC and regional subnet model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Global Vpc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Regional Subnet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Route 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Firewall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Subnet range is unique, regional and visible in the intended global VPC.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Global VPC and regional subnet model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allocate CIDR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attach 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route packet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enforce firewall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Subnet range is unique, regional and visible in the intended global VPC.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Global VPC and regional subnet model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networks create ace-vpc --subnet-mode=custom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networks subnets create app-sg --network=ace-vpc --region=asia-southeast1 --range=10.20.0.0/24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Virtual Networks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vpc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3 evidence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67665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827264" y="1783080"/>
            <a:ext cx="36576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27264" y="1783080"/>
            <a:ext cx="91440" cy="4069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7304" y="2029968"/>
            <a:ext cx="2971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523744"/>
            <a:ext cx="2926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controlled fault should move the signal away from baseline. The remediation is accepted only when it returns close to target and the exact configuration change is recorded.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4315968"/>
            <a:ext cx="292608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Indicative teaching data. Learners replace it with measurements from the aligned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CIDR capacity and reserved addresses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Prefix Length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Host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Primary 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Secondary Range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Address plan records total range, usable design capacity and expansion path.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CIDR capacity and reserved addresses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exclude overlap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reserve platform addresses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monitor growth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Address plan records total range, usable design capacity and expansion path.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CIDR capacity and reserved addresses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python3 -c 'import ipaddress; n=ipaddress.ip_network("10.20.0.0/24"); print(n.num_addresses)'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Virtual Networks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vpc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CIDR capacity and reserved addresses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undersized subnet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overlap with on-prem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secondary range omitted for GKE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Address plan records total range, usable design capacity and expansion path.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 selection and next hops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Destination Prefix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Next Hop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Instance Interface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The winning route has the most specific destination, then the applicable priority.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 selection and next hops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collect matching routes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longest prefix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priority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next hop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The winning route has the most specific destination, then the applicable priority.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Route selection and next hops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routes list --filter='network:ace-vpc' --format='table(name,destRange,priority,nextHopGateway,nextHopInstance)'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Virtual Networks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routes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Route selection and next hops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missing custom route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asymmetric return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route exists but firewall denies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The winning route has the most specific destination, then the applicable priority.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 policy evaluation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Source/Destination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Rule target and source range are narrower than 0.0.0.0/0 and firewall logging can prove the decision.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 policy evaluation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applicable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lowest priority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evaluate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log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allow or deny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Rule target and source range are narrower than 0.0.0.0/0 and firewall logging can prove the decision.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 policy evaluation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firewall-rules create allow-web --network=ace-vpc --direction=INGRESS --priority=1000 --action=ALLOW --rules=tcp:80 --source-ranges=10.20.0.0/16 --target-tags=web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Virtual Networks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firewall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Firewall policy evaluation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network tag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higher-priority deny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implied ingress deny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Rule target and source range are narrower than 0.0.0.0/0 and firewall logging can prove the decision.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Private Google Access and Cloud NAT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Internal-Only 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Subnet Setting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Google 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Nat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VM without external IP can reach intended Google APIs; general internet egress uses controlled NAT.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Private Google Access and Cloud NAT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resolve destination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private access or NAT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translate egress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VM without external IP can reach intended Google APIs; general internet egress uses controlled NAT.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Private Google Access and Cloud NAT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networks subnets update app-sg --region=asia-southeast1 --enable-private-ip-google-access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Virtual Networks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nat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Private Google Access and Cloud NAT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default route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PGA disabled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NAT port exhaustion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VM without external IP can reach intended Google APIs; general internet egress uses controlled NAT.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VPC Flow Logs as packet evidence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5-Tuple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Reporter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Bytes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Action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Flow record supports a connectivity hypothesis with source, destination, ports and bytes.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VPC Flow Logs as packet evidence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sample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aggregate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correlate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Flow record supports a connectivity hypothesis with source, destination, ports and bytes.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VPC Flow Logs as packet evidence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logging read 'logName:vpc_flows AND jsonPayload.connection.src_ip="10.20.0.10"' --limit=20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Virtual Networks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flow-logs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VPC Flow Logs as packet evidence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sampling hides short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query wrong log bucket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firewall log confused with flow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Flow record supports a connectivity hypothesis with source, destination, ports and bytes.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VPC ownership boundaries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Host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Service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Shared Subnet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Service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Network ownership and workload ownership are separately documented and permissioned.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VPC ownership boundaries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share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delegate subnet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attach workload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enforce central policy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Network ownership and workload ownership are separately documented and permissioned.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Shared VPC ownership boundaries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shared-vpc get-host-project $PROJECT_ID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Virtual Networks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shared-vpc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Shared VPC ownership boundaries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service project not associated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missing networkUser 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subnet in wrong 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Network ownership and workload ownership are separately documented and permissioned.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Connectivity Tests diagnostic graph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Source Endpoint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Configuration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Data Plane Probe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Result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Test result names the failing hop or policy instead of relying on ping alone.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Connectivity Tests diagnostic graph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analyze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optional probe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identify hop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recommend fix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Test result names the failing hop or policy instead of relying on ping alone.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Connectivity Tests diagnostic graph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network-management connectivity-tests list --format='table(name,source, destination)'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Virtual Networks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connectivity-tests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03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Connectivity Tests diagnostic graph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ICMP blocked but TCP works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stale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source identity lacks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Test result names the failing hop or policy instead of relying on ping alone.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90 MIN · A3,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and Diagnose a Custom VPC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662940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1554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6053328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a custom VPC and regional subnets, apply narrow firewall rules and diagnose a failed connection.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1691640"/>
            <a:ext cx="3950208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27264" y="1920240"/>
            <a:ext cx="329184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2322576"/>
            <a:ext cx="3310128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network inventory, connectivity-test result and firewall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78224"/>
            <a:ext cx="1874519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network_setup.sh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078224"/>
            <a:ext cx="1874519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network_plan.csv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791456"/>
            <a:ext cx="10835640" cy="78638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4956048"/>
            <a:ext cx="1024128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Full click-by-click instructions are in the Learner Guide and Activity PDF. This slide shows the work product, not the procedure.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3 system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prepare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generate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Build a custom VPC and regional subnets, apply narrow firewall rules and diagnose a failed connection.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NETWORK_SETUP.SH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3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Courier New"/>
              </a:rPr>
              <a:t>#!/usr/bin/env bash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set -euo pipefail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96896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96896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networks create ace-vpc --subnet-mode=custom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898648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98648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networks subnets create app-sg --network=ace-vpc --region=asia-southeast1 --range=10.20.0.0/24 --enable-private-ip-google-access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200400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00400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firewall-rules create allow-web-internal --network=ace-vpc --allow=tcp:80 --source-ranges=10.20.0.0/16 --target-tags=web --enable-logging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Use placeholders for project-specific values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Run only in the isolated training project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both success and failure output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Keep secrets out of submitted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3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project or region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insufficient IAM or disabled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observed output does not meet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Accept when network inventory, connectivity-test result and firewall evidence are complete, timestamped and reproducible.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DAY 1 · PAUSE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Lunch and resource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49424"/>
            <a:ext cx="1051560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61B26"/>
                </a:solidFill>
                <a:latin typeface="Arial"/>
              </a:rPr>
              <a:t>Before you step away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15568" y="3877056"/>
            <a:ext cx="2286000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3913632"/>
            <a:ext cx="21945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Stop test traffic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5615" y="3877056"/>
            <a:ext cx="2286000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1335" y="3913632"/>
            <a:ext cx="21945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Check active 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55664" y="3877056"/>
            <a:ext cx="2286000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3" y="3913632"/>
            <a:ext cx="21945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Save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25712" y="3877056"/>
            <a:ext cx="2286000" cy="310896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3913632"/>
            <a:ext cx="21945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Do not leave tokens on 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DAY 1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1 evidence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Topic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Google Cloud and Cloud Computing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Topic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GCP Basics and IAM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Topic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Virtual Networks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Record expected versus observed output.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configuration is not complete until its observable state matches the acceptance criterion.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9052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A853"/>
                </a:solidFill>
                <a:latin typeface="Arial"/>
              </a:rPr>
              <a:t>TOPIC 04 · A3 · K4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96896"/>
            <a:ext cx="9052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Virtual Machines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67328"/>
            <a:ext cx="905256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Deploy and operate Compute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1965960"/>
            <a:ext cx="132588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7E0EA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Instance contract and dependencies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Machine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Boot Disk 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Service Account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Instance RUNNING state is paired with the intended zone, network, disk and service account.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Instance contract and dependencies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quota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allocate disk and NIC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boot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guest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 status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Instance RUNNING state is paired with the intended zone, network, disk and service account.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Instance contract and dependencies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instances create web-1 --zone=asia-southeast1-b --machine-type=e2-micro --subnet=app-sg --no-address --service-account=app-runtime@$PROJECT_ID.iam.gserviceaccount.com --scopes=cloud-platform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Virtual Machines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compute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4 evidence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67665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827264" y="1783080"/>
            <a:ext cx="36576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27264" y="1783080"/>
            <a:ext cx="91440" cy="4069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7304" y="2029968"/>
            <a:ext cx="2971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523744"/>
            <a:ext cx="2926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controlled fault should move the signal away from baseline. The remediation is accepted only when it returns close to target and the exact configuration change is recorded.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4315968"/>
            <a:ext cx="292608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Indicative teaching data. Learners replace it with measurements from the aligned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Machine families and right-sizing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General 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Compute Optimized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Memory Optimized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Accelerator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Selection is justified by measured CPU, memory, latency and cost constraints.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Machine families and right-sizing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 workload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family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vCPU/RAM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benchmark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resize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Selection is justified by measured CPU, memory, latency and cost constraints.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Machine families and right-sizing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machine-types describe e2-standard-2 --zone=asia-southeast1-b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Virtual Machines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machine-types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Machine families and right-sizing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CPU platform assumption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oversizing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quota not available in zone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Selection is justified by measured CPU, memory, latency and cost constraints.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Images, snapshots and persistent disks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Image Family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Boot Disk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Snapshot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New Disk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Snapshot has a source disk, creation time and restorable status before a risky change.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Images, snapshots and persistent disks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blocks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quiesce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snapshot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filesystem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Snapshot has a source disk, creation time and restorable status before a risky change.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Images, snapshots and persistent disks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disks snapshot web-1 --zone=asia-southeast1-b --snapshot-names=web-1-prechange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Virtual Machines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snapshots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Images, snapshots and persistent disks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crash-consistent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source disk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snapshot schedule absent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Snapshot has a source disk, creation time and restorable status before a risky change.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Startup scripts and metadata execution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Instance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Guest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Startup 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Serial Console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Serial console or journal output proves script execution and idempotent configuration.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Startup scripts and metadata execution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execute 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emit 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serve workload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Serial console or journal output proves script execution and idempotent configuration.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Startup scripts and metadata execution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instances add-metadata web-1 --zone=asia-southeast1-b --metadata-from-file=startup-script=startup.sh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Virtual Machines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startup-scripts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Startup scripts and metadata execution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script not executable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package repository unavailable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non-idempotent rerun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Serial console or journal output proves script execution and idempotent configuration.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Login and SSH authorization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Iam Principal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Os Login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Posix Account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Ssh Certificate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Access succeeds without exposing TCP 22 publicly and is tied to an identifiable principal.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Login and SSH authorization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authenticate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authorize IAM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provision POSIX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mint key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connect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Access succeeds without exposing TCP 22 publicly and is tied to an identifiable principal.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OS Login and SSH authorization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ssh web-1 --zone=asia-southeast1-b --tunnel-through-iap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Virtual Machines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os-login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OS Login and SSH authorization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OS Login disabled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IAP firewall missing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user lacks tunnel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Access succeeds without exposing TCP 22 publicly and is tied to an identifiable principal.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Managed instance group control loop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Instance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Target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Health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Autoscaler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All instances are current, healthy and derived from the intended template version.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Managed instance group control loop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desired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or recreate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health probe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stabilize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All instances are current, healthy and derived from the intended template version.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Managed instance group control loop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instance-groups managed list-instances web-mig --region=asia-southeast1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Virtual Machines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mig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Managed instance group control loop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template drift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health check blocked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autoscaler cool-down too short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All instances are current, healthy and derived from the intended template version.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Spot VM interruption-aware design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Spot Provision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Termination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Checkpoint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Durable 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Workload tolerates interruption and persists progress outside the instance.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Spot VM interruption-aware design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receive termination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Workload tolerates interruption and persists progress outside the instance.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Spot VM interruption-aware design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instances describe batch-spot --zone=asia-southeast1-b --format='value(scheduling.provisioningModel,scheduling.instanceTerminationAction)'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Virtual Machines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spot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Spot VM interruption-aware design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state on local disk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retry queue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capacity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Workload tolerates interruption and persists progress outside the instance.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incident evidence bundle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Instance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Serial Logs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Guest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Audit Change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Escalation includes timestamps, recent changes, expected/observed behaviour and exact commands.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incident evidence bundle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collect 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correlate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hypothesis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escalate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Escalation includes timestamps, recent changes, expected/observed behaviour and exact commands.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incident evidence bundle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instances get-serial-port-output web-1 --zone=asia-southeast1-b --port=1 &gt; serial.log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Virtual Machines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troubleshooting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04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VM incident evidence bundle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reboot before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timezone mismatch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missing reproduction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Escalation includes timestamps, recent changes, expected/observed behaviour and exact commands.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90 MIN · A3,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Recover a Compute Engine Web VM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662940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1554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6053328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Deploy a private web VM with a user-managed service account, test the startup script and recover from a bad change.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1691640"/>
            <a:ext cx="3950208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27264" y="1920240"/>
            <a:ext cx="329184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2322576"/>
            <a:ext cx="3310128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startup logs, a pre-change snapshot and recovery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78224"/>
            <a:ext cx="1874519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startup.sh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078224"/>
            <a:ext cx="1874519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verify_vm.sh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791456"/>
            <a:ext cx="10835640" cy="78638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4956048"/>
            <a:ext cx="1024128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Full click-by-click instructions are in the Learner Guide and Activity PDF. This slide shows the work product, not the procedure.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4 system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prepare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generate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Deploy a private web VM with a user-managed service account, test the startup script and recover from a bad change.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STARTUP.SH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4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B949E"/>
                </a:solidFill>
                <a:latin typeface="Courier New"/>
              </a:rPr>
              <a:t>#!/usr/bin/env bash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set -euo pipefail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96896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96896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apt-get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898648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98648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apt-get install -y nginx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200400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00400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echo 'ACE activity healthy' &gt; /var/www/html/index.html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50215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50215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systemctl enable --now nginx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Use placeholders for project-specific values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Run only in the isolated training project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both success and failure output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Keep secrets out of submitted 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4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project or region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insufficient IAM or disabled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observed output does not meet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Accept when startup logs, a pre-change snapshot and recovery verification are complete, timestamped and reproducible.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9052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BBC04"/>
                </a:solidFill>
                <a:latin typeface="Arial"/>
              </a:rPr>
              <a:t>TOPIC 05 · A4 · K5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96896"/>
            <a:ext cx="9052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Storage and 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67328"/>
            <a:ext cx="905256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Plan, deploy and manage data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1965960"/>
            <a:ext cx="132588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7E0EA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Storage request path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Bucket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Object Namespace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Encryption And Location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Bucket location, uniform access and retention requirements are recorded before upload.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Storage request path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authenticate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authorize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object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or write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Bucket location, uniform access and retention requirements are recorded before upload.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Storage request path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storage buckets create gs://$BUCKET --location=asia-southeast1 --uniform-bucket-level-access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Storage and Databases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A4 · K5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storage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5 evidence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67665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827264" y="1783080"/>
            <a:ext cx="36576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27264" y="1783080"/>
            <a:ext cx="91440" cy="4069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7304" y="2029968"/>
            <a:ext cx="2971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523744"/>
            <a:ext cx="2926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controlled fault should move the signal away from baseline. The remediation is accepted only when it returns close to target and the exact configuration change is recorded.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4315968"/>
            <a:ext cx="292608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Indicative teaching data. Learners replace it with measurements from the aligned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class decision rules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Nearline 30D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Coldline 90D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Archive 365D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Class matches expected access frequency and minimum-duration economics.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class decision rules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retrieve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lifecycle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Class matches expected access frequency and minimum-duration economics.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Storage class decision rules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storage buckets describe gs://$BUCKET --format='value(storageClass,location,type)'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Storage and Databases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A4 · K5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storage-classes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Storage class decision rules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early deletion charge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retrieval fee ignored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class used as durability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Class matches expected access frequency and minimum-duration economics.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Lifecycle, versioning and retention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Lifecycle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Object 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Version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Retention 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Policy JSON is valid and noncurrent versions follow the intended retention window.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Lifecycle, versioning and retention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evaluate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retain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Policy JSON is valid and noncurrent versions follow the intended retention window.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Lifecycle, versioning and retention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storage buckets update gs://$BUCKET --lifecycle-file=lifecycle.json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storage buckets update gs://$BUCKET --versioning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Storage and Databases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A4 · K5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lifecycle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Lifecycle, versioning and retention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delete rule too broad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locked policy irreversible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soft delete cost overlooked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Policy JSON is valid and noncurrent versions follow the intended retention window.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SQL private connectivity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Sql Instance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Private Service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Vpc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Client reaches the private address and database authentication is distinct from network reachability.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SQL private connectivity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resolve private 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authorize IAM or DB 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TLS session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Client reaches the private address and database authentication is distinct from network reachability.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Cloud SQL private connectivity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sql instances describe ace-db --format='value(ipAddresses,settings.availabilityType,settings.backupConfiguration.enabled)'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Storage and Databases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A4 · K5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cloud-sql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Cloud SQL private connectivity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network not peered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connection limit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database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Client reaches the private address and database authentication is distinct from network reachability.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Regional HA and failover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Primary Zone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Standby Zone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Synchronous Replication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Shared Endpoint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REGIONAL availability and reconnect behaviour are proven by a controlled failover test.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Regional HA and failover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replicate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 primary failure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promote standby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reconnect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REGIONAL availability and reconnect behaviour are proven by a controlled failover test.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Regional HA and failover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sql instances describe ace-db --format='value(settings.availabilityType,gceZone,secondaryGceZone)'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Storage and Databases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A4 · K5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cloud-sql-ha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Regional HA and failover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zonal instance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application no retry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long transaction during failover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REGIONAL availability and reconnect behaviour are proven by a controlled failover test.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Database observability and query diagnosis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Query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Cpu And Memory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Connections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Slow 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Before/after latency, rows scanned and connection pressure support the chosen fix.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Database observability and query diagnosis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rank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tune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baseline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Before/after latency, rows scanned and connection pressure support the chosen fix.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Database observability and query diagnosis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monitoring time-series list --filter='metric.type="cloudsql.googleapis.com/database/cpu/utilization"' --limit=5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Storage and Databases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A4 · K5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query-insights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Database observability and query diagnosis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scale hides bad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pool leak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index write overhead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Before/after latency, rows scanned and connection pressure support the chosen fix.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Managed database selection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Spanner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Bigtable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Firestore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Choice is based on transaction model, consistency, access pattern and operational boundary.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Managed database selection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model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consistency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interface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Choice is based on transaction model, consistency, access pattern and operational boundary.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Managed database selection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sql tiers list --filter='region:asia-southeast1' --format='table(tier,RAM,diskQuota)'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Storage and Databases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A4 · K5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databases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Managed database selection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product by brand familiarity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relational joins on Bigtable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global scale assumed 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Choice is based on transaction model, consistency, access pattern and operational boundary.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Backup, restore and data validation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Automated Backup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Point-In-Time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Restore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Validation 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Restored copy passes row-count, checksum and application connection tests.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Backup, restore and data validation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backup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recovery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FBBC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document RTO/RPO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Restored copy passes row-count, checksum and application connection tests.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Backup, restore and data validation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sql backups list --instance=ace-db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sql operations list --instance=ace-db --limit=10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Storage and Databases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A4 · K5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backup-restore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TOPIC 05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Backup, restore and data validation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backup exists but restore untested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PITR log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restore over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Restored copy passes row-count, checksum and application connection tests.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105 MIN · A4,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Operate Cloud Storage and Diagnose Cloud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662940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1554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6053328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Apply storage lifecycle controls, load mock customer data and diagnose a simulated Cloud SQL connection bottleneck.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1691640"/>
            <a:ext cx="3950208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27264" y="1920240"/>
            <a:ext cx="329184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2322576"/>
            <a:ext cx="3310128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lifecycle policy, query evidence and database incident report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78224"/>
            <a:ext cx="1874519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customers.csv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078224"/>
            <a:ext cx="1874519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lifecycle.json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4078224"/>
            <a:ext cx="1874519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diagnose.sql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791456"/>
            <a:ext cx="10835640" cy="78638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4956048"/>
            <a:ext cx="1024128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Full click-by-click instructions are in the Learner Guide and Activity PDF. This slide shows the work product, not the procedure.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5 system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prepare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generate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Apply storage lifecycle controls, load mock customer data and diagnose a simulated Cloud SQL connection bottleneck.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CUSTOMERS.CSV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5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customer_id,region,tier,last_order_date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C001,SG,gold,2026-09-01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96896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96896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C002,MY,silver,2026-08-17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898648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98648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C003,SG,bronze,2026-06-12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200400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00400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C004,ID,gold,2026-09-10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Use placeholders for project-specific values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Run only in the isolated training project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both success and failure output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Keep secrets out of submitted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5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project or region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insufficient IAM or disabled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observed output does not meet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Accept when lifecycle policy, query evidence and database incident report are complete, timestamped and reproducible.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4663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4335"/>
                </a:solidFill>
                <a:latin typeface="Arial"/>
              </a:rPr>
              <a:t>TOPIC 06 · A4 · K5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96896"/>
            <a:ext cx="4663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61B26"/>
                </a:solidFill>
                <a:latin typeface="Arial"/>
              </a:rPr>
              <a:t>Interconnecting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67328"/>
            <a:ext cx="46634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Implement hybrid and multi-project connectivity</a:t>
            </a:r>
          </a:p>
        </p:txBody>
      </p:sp>
      <p:pic>
        <p:nvPicPr>
          <p:cNvPr id="8" name="Picture 7" descr="hybrid-network-hero.png"/>
          <p:cNvPicPr>
            <a:picLocks noChangeAspect="1"/>
          </p:cNvPicPr>
          <p:nvPr/>
        </p:nvPicPr>
        <p:blipFill>
          <a:blip r:embed="rId2"/>
          <a:srcRect l="6618" r="6618"/>
          <a:stretch>
            <a:fillRect/>
          </a:stretch>
        </p:blipFill>
        <p:spPr>
          <a:xfrm>
            <a:off x="6419088" y="1737360"/>
            <a:ext cx="507492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VPN packet path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Ha Vpn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Tunnel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Router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Peer Gateway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Both HA interfaces and BGP sessions meet the intended redundancy design.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VPN packet path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encrypt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send tunnel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decrypt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route by BGP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Both HA interfaces and BGP sessions meet the intended redundancy design.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VPN packet path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vpn-tunnels list --format='table(name,region,status,peerIp,router)'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Interconnecting Networks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A4 · K5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vpn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06 · 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6 evidence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67665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827264" y="1783080"/>
            <a:ext cx="36576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27264" y="1783080"/>
            <a:ext cx="91440" cy="4069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7304" y="2029968"/>
            <a:ext cx="2971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523744"/>
            <a:ext cx="2926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controlled fault should move the signal away from baseline. The remediation is accepted only when it returns close to target and the exact configuration change is recorded.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4315968"/>
            <a:ext cx="292608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Indicative teaching data. Learners replace it with measurements from the aligned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BGP dynamic route exchange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Bgp Peer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Advertised Prefix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Learned Route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Peer status is UP and learned/advertised prefixes match the approved plan.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BGP dynamic route exchange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establish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advertise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route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withdraw on failure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Peer status is UP and learned/advertised prefixes match the approved plan.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BGP dynamic route exchange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routers get-status ace-router --region=asia-southeast1 --format=json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Interconnecting Networks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A4 · K5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cloud-router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BGP dynamic route exchange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ASN conflict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MD5/session mismatch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custom advertisement omits subnet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Peer status is UP and learned/advertised prefixes match the approved plan.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Interconnect product decision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Dedicated Interconnect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Partner Interconnect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Cross-Cloud Interconnect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Vlan Attachment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Selection reflects throughput, location, provider, encryption and SLA requirements.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Interconnect product decision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throughput/SLA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provider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provision circuit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attach VLAN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BGP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Selection reflects throughput, location, provider, encryption and SLA requirements.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Interconnect product decision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interconnects attachments list --format='table(name,region,state,type,router)'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Interconnecting Networks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A4 · K5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interconnect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Interconnect product decision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redundant metro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VLAN attachment inactive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BGP not established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Selection reflects throughput, location, provider, encryption and SLA requirements.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VPC Network Peering semantics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Peer Vpc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Peer Vpc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Subnet Routes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Non-Transitive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Both sides are ACTIVE and no design depends on transitive routing.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VPC Network Peering semantics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both sides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exchange eligible routes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enforce firewall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send directly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Both sides are ACTIVE and no design depends on transitive routing.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VPC Network Peering semantics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networks peerings list --network=ace-vpc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Interconnecting Networks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A4 · K5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peering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VPC Network Peering semantics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overlapping ranges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one side missing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firewall not automatically shared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Both sides are ACTIVE and no design depends on transitive routing.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VPC versus peering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Central Host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Service Projects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Separate Admin Roles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Shared Subnets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Chosen model matches whether central administrators must own the network dataplane.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VPC versus peering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ownership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delegate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attach workload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policy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Chosen model matches whether central administrators must own the network dataplane.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VPC versus peering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shared-vpc associated-projects list $HOST_PROJECT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Interconnecting Networks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A4 · K5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shared-vpc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VPC versus peering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using peering for centralized subnet ownership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host service agent missing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project association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Chosen model matches whether central administrators must own the network dataplane.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Private Service Connect service boundary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Service Attachment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Consumer Endpoint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Internal 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Producer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Consumer uses a private endpoint without importing the producer's routes.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Private Service Connect service boundary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approve consumer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endpoint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connect privately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monitor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Consumer uses a private endpoint without importing the producer's routes.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Private Service Connect service boundary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forwarding-rules list --filter='target:serviceAttachments' --format='table(name,IPAddress,network,region)'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Interconnecting Networks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A4 · K5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psc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Private Service Connect service boundary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connection not accepted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region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DNS still resolves public endpoint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Consumer uses a private endpoint without importing the producer's routes.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Hybrid DNS resolution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Dns Private Zone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Inbound Forwarding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Outbound Forwarding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On-Prem Resolver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Resolution path and authoritative zone are testable from both cloud and on-prem sources.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Hybrid DNS resolution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match zone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forward if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return 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cache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Resolution path and authoritative zone are testable from both cloud and on-prem sources.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Hybrid DNS resolution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dns managed-zones list --format='table(name,dnsName,visibility)'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Interconnecting Networks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A4 · K5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dns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Hybrid DNS resolution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overlapping zone suffix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forwarder unreachable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stale 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Resolution path and authoritative zone are testable from both cloud and on-prem sources.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Hybrid connectivity fault isolation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Bgp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Firewall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Evidence isolates control-plane, routing, policy or application failure before escalation.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Hybrid connectivity fault isolation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route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policy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application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Evidence isolates control-plane, routing, policy or application failure before escalation.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Hybrid connectivity fault isolation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routers get-status ace-router --region=asia-southeast1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network-management connectivity-tests 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Interconnecting Networks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A4 · K5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network-diagnostics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Arial"/>
              </a:rPr>
              <a:t>TOPIC 06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Hybrid connectivity fault isolation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testing only ping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asymmetric route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MTU black hole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Evidence isolates control-plane, routing, policy or application failure before escalation.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90 MIN · A4,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Hybrid Connectivity and BGP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662940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1554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6053328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Evaluate VPN versus Interconnect, inspect mock BGP routes and isolate a hybrid routing failure.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1691640"/>
            <a:ext cx="3950208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27264" y="1920240"/>
            <a:ext cx="329184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2322576"/>
            <a:ext cx="3310128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connectivity decision, route analysis and corrected BGP configuration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78224"/>
            <a:ext cx="1874519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bgp_routes.csv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078224"/>
            <a:ext cx="1874519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router_config.yaml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791456"/>
            <a:ext cx="10835640" cy="78638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4956048"/>
            <a:ext cx="1024128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Full click-by-click instructions are in the Learner Guide and Activity PDF. This slide shows the work product, not the procedure.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6 system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prepare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generate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Evaluate VPN versus Interconnect, inspect mock BGP routes and isolate a hybrid routing failure.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BGP_ROUTES.CSV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6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prefix,next_hop,as_path,priority,status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10.20.0.0/16,cloud-vpn,64514,100,learned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96896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96896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172.16.0.0/16,onprem-router,65010,100,advertised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898648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98648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10.20.10.0/24,cloud-vpn,64514,90,learned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Use placeholders for project-specific values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Run only in the isolated training project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both success and failure output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Keep secrets out of submitted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6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project or region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insufficient IAM or disabled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observed output does not meet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Accept when connectivity decision, route analysis and corrected BGP configuration are complete, timestamped and reproducible.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DAY 2 · PAUSE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Lunch and resource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49424"/>
            <a:ext cx="1051560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61B26"/>
                </a:solidFill>
                <a:latin typeface="Arial"/>
              </a:rPr>
              <a:t>Before you step away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15568" y="3877056"/>
            <a:ext cx="2286000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3913632"/>
            <a:ext cx="21945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Stop test traffic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5615" y="3877056"/>
            <a:ext cx="2286000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1335" y="3913632"/>
            <a:ext cx="21945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Check active 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55664" y="3877056"/>
            <a:ext cx="2286000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3" y="3913632"/>
            <a:ext cx="21945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Save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25712" y="3877056"/>
            <a:ext cx="2286000" cy="310896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3913632"/>
            <a:ext cx="21945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Do not leave tokens on 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DAY 2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2 evidence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Topic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Virtual Machines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Topic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Storage and Databases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Topic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Interconnecting Networks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Record expected versus observed output.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configuration is not complete until its observable state matches the acceptance criterion.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9052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07 · A3 · K4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96896"/>
            <a:ext cx="9052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Managed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67328"/>
            <a:ext cx="905256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Deploy serverless and data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1965960"/>
            <a:ext cx="132588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7E0EA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Cloud Run revision and traffic model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Container Instance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Traffic Split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Revision name, image digest, service identity and ingress are captured after deployment.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Cloud Run revision and traffic model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deploy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immutable revision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start instances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route traffic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Revision name, image digest, service identity and ingress are captured after deployment.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Cloud Run revision and traffic model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run deploy ace-api --source=. --region=asia-southeast1 --no-allow-unauthenticated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Managed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cloud-run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07 · 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7 evidence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67665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827264" y="1783080"/>
            <a:ext cx="36576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27264" y="1783080"/>
            <a:ext cx="91440" cy="4069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7304" y="2029968"/>
            <a:ext cx="2971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523744"/>
            <a:ext cx="2926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controlled fault should move the signal away from baseline. The remediation is accepted only when it returns close to target and the exact configuration change is recorded.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4315968"/>
            <a:ext cx="292608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Indicative teaching data. Learners replace it with measurements from the aligned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Run autoscaling controls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Concurrency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Min Instances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Max Instances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Instance count and latency respond to load without overwhelming the database connection budget.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Run autoscaling controls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receive 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 drivers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recommendation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bound 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Instance count and latency respond to load without overwhelming the database connection budget.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Cloud Run autoscaling controls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run services update ace-api --region=asia-southeast1 --concurrency=40 --min=0 --max=10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Managed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cloud-run-autoscaling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Cloud Run autoscaling controls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single-thread vCPU hotspot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max too high for 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cold-start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Instance count and latency respond to load without overwhelming the database connection budget.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Pub/Sub delivery contract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Subscription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Message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Ack Deadline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Subscriber handles duplicate delivery idempotently and backlog metrics remain within target.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Pub/Sub delivery contract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ack or retry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dead-letter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Subscriber handles duplicate delivery idempotently and backlog metrics remain within target.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Pub/Sub delivery contract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pubsub topics create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pubsub subscriptions create orders-worker --topic=orders --ack-deadline=30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Managed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pubsub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Pub/Sub delivery contract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poison message loop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publisher permission missing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Subscriber handles duplicate delivery idempotently and backlog metrics remain within target.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Eventarc event routing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Event 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Eventarc 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Transport Topic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Run 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Trigger filters match the intended event type and target region.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Eventarc event routing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emit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match filters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wrap CloudEvent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invoke target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record delivery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Trigger filters match the intended event type and target region.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Eventarc event routing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eventarc triggers list --location=asia-southeast1 --format='table(name,eventFilters,destination)'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Managed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eventarc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Eventarc event routing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region mismatch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service agent role missing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event filter typo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Trigger filters match the intended event type and target region.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BigQuery load and query job model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Table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Load Job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Query Job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Job status is DONE with no error and bytes processed are reviewed before scale-up.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BigQuery load and query job model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stage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job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scan columns/partitions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 bytes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Job status is DONE with no error and bytes processed are reviewed before scale-up.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BigQuery load and query job model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bq load --source_format=CSV --autodetect ops.events gs://$BUCKET/events.csv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bq query --use_legacy_sql=false 'SELECT severity,COUNT(*) n FROM `ops.events` GROUP BY severity'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Managed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bigquery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BigQuery load and query job model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schema autodetect drift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unbounded scan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dataset location mismatch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Job status is DONE with no error and bytes processed are reviewed before scale-up.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Dataflow pipeline boundaries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Apache Beam Transforms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Runner Workers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Job graph, worker logs, watermark and failed records show pipeline health.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Dataflow pipeline boundaries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window/key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shuffle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Job graph, worker logs, watermark and failed records show pipeline health.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Dataflow pipeline boundaries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dataflow jobs list --region=asia-southeast1 --status=active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Managed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dataflow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Dataflow pipeline boundaries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hot 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serialization failure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sink quota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Job graph, worker logs, watermark and failed records show pipeline health.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Dataproc cluster and job separation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Driver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Executors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Ephemeral compute is separated from durable input/output and job state is recorded.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Dataproc cluster and job separation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job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schedule stages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persist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delete cluster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Ephemeral compute is separated from durable input/output and job state is recorded.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Dataproc cluster and job separation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dataproc jobs list --region=asia-southeast1 --format='table(reference.jobId,status.state,placement.clusterName)'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Managed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dataproc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Dataproc cluster and job separation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cluster left running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initialization action fails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shuffle disk pressure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Ephemeral compute is separated from durable input/output and job state is recorded.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Serverless incident trace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Request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Trace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Downstream 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One trace identifier links entry, application error and downstream latency.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Serverless incident trace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receive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emit structured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propagate 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call dependency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correlate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One trace identifier links entry, application error and downstream latency.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Serverless incident trace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logging read 'resource.type="cloud_run_revision" AND resource.labels.service_name="ace-api"' --limit=30 --format=json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Managed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observability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07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Serverless incident trace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unstructured logs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trace header dropped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revision receives traffic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One trace identifier links entry, application error and downstream latency.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105 MIN · A3, A4,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Pub Sub to Cloud Run Event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662940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1554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6053328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Deploy a small event receiver, publish mock orders and diagnose retry behaviour without losing messages.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1691640"/>
            <a:ext cx="3950208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27264" y="1920240"/>
            <a:ext cx="329184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2322576"/>
            <a:ext cx="3310128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Cloud Run revision, Pub/Sub subscription and processed event 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78224"/>
            <a:ext cx="1874519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app.py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078224"/>
            <a:ext cx="1874519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requirements.txt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4078224"/>
            <a:ext cx="1874519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orders.jsonl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791456"/>
            <a:ext cx="10835640" cy="78638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4956048"/>
            <a:ext cx="1024128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Full click-by-click instructions are in the Learner Guide and Activity PDF. This slide shows the work product, not the procedure.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7 system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prepare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generate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Deploy a small event receiver, publish mock orders and diagnose retry behaviour without losing messages.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APP.PY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7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import base64,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from flask import Flask,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96896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96896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app = Flask(__name__)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898648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98648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@app.post('/')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200400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00400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def receive():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50215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50215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    envelope = request.get_json(force=True)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80390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80390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    msg = envelope.get('message', {})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105656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105656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    payload = json.loads(base64.b64decode(msg.get('data', '') or 'e30='))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407408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407408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    print(json.dumps({'message_id': msg.get('messageId'), 'payload': payload}))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709160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709160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    return ('', 204)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Use placeholders for project-specific values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Run only in the isolated training project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both success and failure output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Keep secrets out of submitted evidence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7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project or region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insufficient IAM or disabled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observed output does not meet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Accept when Cloud Run revision, Pub/Sub subscription and processed event log are complete, timestamped and reproducible.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9052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D3FD2"/>
                </a:solidFill>
                <a:latin typeface="Arial"/>
              </a:rPr>
              <a:t>TOPIC 08 · A3 · K4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96896"/>
            <a:ext cx="9052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Kubernetes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67328"/>
            <a:ext cx="905256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Deploy and operate GKE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1965960"/>
            <a:ext cx="132588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7E0EA"/>
                </a:solidFill>
                <a:latin typeface="Arial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GKE control plane and workload boundary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Managed Control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Node Or Autopilot Compute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Cluster endpoint is reachable and credentials bind kubectl to the intended context.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GKE control plane and workload boundary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manifest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schedule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start container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Cluster endpoint is reachable and credentials bind kubectl to the intended context.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GKE control plane and workload boundary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container clusters create-auto ace-gke --region=asia-southeast1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container clusters get-credentials ace-gke --region=asia-southeast1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Kubernetes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gke-autopilot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08 · 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8 evidence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67665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827264" y="1783080"/>
            <a:ext cx="36576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27264" y="1783080"/>
            <a:ext cx="91440" cy="4069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7304" y="2029968"/>
            <a:ext cx="2971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523744"/>
            <a:ext cx="2926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controlled fault should move the signal away from baseline. The remediation is accepted only when it returns close to target and the exact configuration change is recorded.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4315968"/>
            <a:ext cx="292608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Indicative teaching data. Learners replace it with measurements from the aligned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Kubernetes declarative reconciliation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Desired Manifest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Api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Observed 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Deployment AVAILABLE replicas equal desired replicas and Pods are Ready.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Kubernetes declarative reconciliation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persist desired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controller diff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converge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Deployment AVAILABLE replicas equal desired replicas and Pods are Ready.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Kubernetes declarative reconciliation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kubectl apply -f deployment.yaml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kubectl get deploy,pods,svc -o wide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Kubernetes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kubernetes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Kubernetes declarative reconciliation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selector mismatch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image pull 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readiness probe fails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Deployment AVAILABLE replicas equal desired replicas and Pods are Ready.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Resource requests, limits and scheduling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Pod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Node Capacity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Container Limit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Requests reflect observed workload and explain both scheduling and autoscaling decisions.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Resource requests, limits and scheduling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sum requests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 nodes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bind Pod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enforce cgroup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Requests reflect observed workload and explain both scheduling and autoscaling decisions.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Resource requests, limits and scheduling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kubectl describe pod -l app=ace-web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kubectl top pods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Kubernetes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gke-resources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Resource requests, limits and scheduling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Pending due to insufficient CPU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OOMKilled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Requests reflect observed workload and explain both scheduling and autoscaling decisions.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discovery and traffic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Service Selector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Endpointslice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Cluster 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Pod Targetport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Selector labels produce ready endpoints and port/targetPort match the container.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discovery and traffic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resolve service DNS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endpoint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proxy packet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reach Pod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Selector labels produce ready endpoints and port/targetPort match the container.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Service discovery and traffic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kubectl get svc,endpointslices -o wide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kubectl describe svc ace-web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Kubernetes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gke-networking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Service discovery and traffic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zero endpoints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targetPort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NetworkPolicy blocks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Selector labels produce ready endpoints and port/targetPort match the container.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Artifact Registry image pull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Image Digest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Node Identity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Pod Spec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Running Pod imageID records the immutable digest expected from the build.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Artifact Registry image pull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push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authorize pull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resolve tag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download layers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Running Pod imageID records the immutable digest expected from the build.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Artifact Registry image pull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artifacts docker images list asia-southeast1-docker.pkg.dev/$PROJECT_ID/ace/apps --include-tags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Kubernetes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artifact-registry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Artifact Registry image pull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repository region typo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node lacks reader 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mutable tag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Running Pod imageID records the immutable digest expected from the build.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Horizontal Pod Autoscaler control loop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Metrics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Target Utilization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Replica 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HPA shows current/target metric and increases replicas during the load window.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Horizontal Pod Autoscaler control loop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sample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stabilize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scale replicas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reschedule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HPA shows current/target metric and increases replicas during the load window.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Horizontal Pod Autoscaler control loop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kubectl autoscale deployment ace-web --cpu-percent=60 --min=2 --max=10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kubectl get hpa -w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Kubernetes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hpa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Horizontal Pod Autoscaler control loop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CPU requests missing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metrics unavailable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load too short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HPA shows current/target metric and increases replicas during the load window.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Cluster autoscaling and Autopilot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Unschedulable Pod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Requested 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Autopilot Provisioner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New 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Events distinguish Pod HPA from underlying capacity provisioning.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Cluster autoscaling and Autopilot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Pod 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 need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provision node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schedule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scale down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Events distinguish Pod HPA from underlying capacity provisioning.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Cluster autoscaling and Autopilot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kubectl get events --sort-by=.lastTimestamp | tail -30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Kubernetes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gke-autopilot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Cluster autoscaling and Autopilot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unsupported workload constraint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quota exhausted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first workload provisioning delay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Events distinguish Pod HPA from underlying capacity provisioning.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GKE troubleshooting evidence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Pod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Container 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Cluster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Incident bundle preserves YAML, events, logs, metrics and the exact failed test.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GKE troubleshooting evidence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identify symptom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describe resource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current/previous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escalate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Incident bundle preserves YAML, events, logs, metrics and the exact failed test.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GKE troubleshooting evidence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kubectl describe pod $POD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kubectl logs $POD --previous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96896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96896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kubectl get events --sort-by=.lastTimestamp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Kubernetes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A3 · K4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gke-troubleshooting documentation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08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GKE troubleshooting evidence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Pod recreated before capture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namespace omitted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only application log collected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Incident bundle preserves YAML, events, logs, metrics and the exact failed test.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120 MIN · A3, A4,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Test a GKE Autopilot Workload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662940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1554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6053328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Deploy a containerized web workload with probes and resource requests, add HPA and diagnose why replicas do not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1691640"/>
            <a:ext cx="3950208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27264" y="1920240"/>
            <a:ext cx="329184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2322576"/>
            <a:ext cx="3310128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Kubernetes manifests, load-test CSV and HPA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78224"/>
            <a:ext cx="1874519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deployment.yaml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078224"/>
            <a:ext cx="1874519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hpa.yaml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791456"/>
            <a:ext cx="10835640" cy="78638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4956048"/>
            <a:ext cx="1024128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Full click-by-click instructions are in the Learner Guide and Activity PDF. This slide shows the work product, not the procedure.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8 system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prepare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generate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Deploy a containerized web workload with probes and resource requests, add HPA and diagnose why replicas do not scale.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DEPLOYMENT.YAML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8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apiVersion: apps/v1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kind: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96896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96896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metadata: {name: ace-web}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898648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98648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spec: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200400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00400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  replicas: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50215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50215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  selector: {matchLabels: {app: ace-web}}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80390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80390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  template: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105656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105656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    metadata: {labels: {app: ace-web}}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407408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407408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    spec: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709160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709160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      containers: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01091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01091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      - name: web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31266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31266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        image: us-docker.pkg.dev/google-samples/containers/gke/hello-app:1.0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614416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614416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        resources: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916168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916168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          requests: {cpu: 250m, memory: 256Mi}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6217920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6217920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          limits: {cpu: 500m, memory: 512Mi}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651967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  <a:latin typeface="Courier New"/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651967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DCFE"/>
                </a:solidFill>
                <a:latin typeface="Courier New"/>
              </a:rPr>
              <a:t>        readinessProbe: {httpGet: {path: /, port: 8080}, initialDelaySeconds: 5}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Use placeholders for project-specific values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Run only in the isolated training project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both success and failure output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Keep secrets out of submitted evidence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8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project or region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insufficient IAM or disabled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observed output does not meet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Accept when Kubernetes manifests, load-test CSV and HPA evidence are complete, timestamped and reproducible.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4663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TOPIC 09 · A5 · K2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96896"/>
            <a:ext cx="4663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61B26"/>
                </a:solidFill>
                <a:latin typeface="Arial"/>
              </a:rPr>
              <a:t>Resource Management and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67328"/>
            <a:ext cx="46634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Ensure successful operation</a:t>
            </a:r>
          </a:p>
        </p:txBody>
      </p:sp>
      <p:pic>
        <p:nvPicPr>
          <p:cNvPr id="8" name="Picture 7" descr="observability-autoscaling-hero.png"/>
          <p:cNvPicPr>
            <a:picLocks noChangeAspect="1"/>
          </p:cNvPicPr>
          <p:nvPr/>
        </p:nvPicPr>
        <p:blipFill>
          <a:blip r:embed="rId2"/>
          <a:srcRect l="6618" r="6618"/>
          <a:stretch>
            <a:fillRect/>
          </a:stretch>
        </p:blipFill>
        <p:spPr>
          <a:xfrm>
            <a:off x="6419088" y="1737360"/>
            <a:ext cx="507492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inventory and labels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Asset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Resource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Labels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Search 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Inventory finds all expected resources and exposes unlabelled or wrong-location assets.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inventory and labels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normalize 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Inventory finds all expected resources and exposes unlabelled or wrong-location assets.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inventory and labels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asset search-all-resources --scope=projects/$PROJECT_NUMBER --query='labels.env=training' --format='table(assetType,name,location)'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Resource Management and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A5 · K2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asset-inventory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09 · 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9 evidence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67665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827264" y="1783080"/>
            <a:ext cx="36576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27264" y="1783080"/>
            <a:ext cx="91440" cy="4069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7304" y="2029968"/>
            <a:ext cx="2971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523744"/>
            <a:ext cx="2926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controlled fault should move the signal away from baseline. The remediation is accepted only when it returns close to target and the exact configuration change is recorded.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4315968"/>
            <a:ext cx="292608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Indicative teaching data. Learners replace it with measurements from the aligned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Quota versus system limit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Quota 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Regional Dimension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Consumer Override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Hard Limit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Capacity plan identifies the quota and region before deployment pressure.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Quota versus system limit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 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quota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forecast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request increase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Capacity plan identifies the quota and region before deployment pressure.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Quota versus system limit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regions describe asia-southeast1 --format='table(quotas.metric,quotas.usage,quotas.limit)'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Resource Management and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A5 · K2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quotas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Quota versus system limit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quota confused with capacity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request too late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per-project versus per-region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Capacity plan identifies the quota and region before deployment pressure.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Metrics, logs and traces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Time Series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Log Entry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Trace Span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Resource Labels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Signal includes resource type, metric/log name, timestamp and useful labels.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Metrics, logs and traces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instrument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ingest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correlate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interpret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Signal includes resource type, metric/log name, timestamp and useful labels.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Metrics, logs and traces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monitoring metrics list --filter='metric.type:compute.googleapis.com' --limit=10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Resource Management and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A5 · K2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observability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Metrics, logs and traces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metric has wrong alignment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logs lack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trace sampling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Signal includes resource type, metric/log name, timestamp and useful labels.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Logging router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Source 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Log 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Sink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Destination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Sink destination and filter are explicit; required audit logs remain retained.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Logging router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receive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match exclusion/sink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Sink destination and filter are explicit; required audit logs remain retained.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Logging router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logging sinks list --format='table(name,destination,filter)'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Resource Management and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A5 · K2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logging-routing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Logging router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recursive routing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writer identity lacks destination 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exclusion drops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Sink destination and filter are explicit; required audit logs remain retained.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Log-based metric contract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Log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Counter 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Time Series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Alert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Test error increments the metric and can be tied to a known trace or revision.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Log-based metric contract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match 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increment 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align 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evaluate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notify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Test error increments the metric and can be tied to a known trace or revision.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Log-based metric contract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logging metrics create app-errors --description='ACE app errors' --log-filter='severity&gt;=ERROR AND resource.type="cloud_run_revision"'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Resource Management and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A5 · K2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log-metrics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Log-based metric contract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filter never matches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high-cardinality label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ingestion delay misread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Test error increments the metric and can be tied to a known trace or revision.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Alert policy evaluation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Metric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Alignment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Threshold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Notification Channel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Synthetic breach opens one incident and recovery closes it without alert flapping.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Alert policy evaluation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ingest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open incident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notify and close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Synthetic breach opens one incident and recovery closes it without alert flapping.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Alert policy evaluation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alpha monitoring policies list --format='table(displayName,enabled,conditions)'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Resource Management and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A5 · K2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alerts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Alert policy evaluation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window too short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missing data behaviour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channel unverified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Synthetic breach opens one incident and recovery closes it without alert flapping.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Ops Agent telemetry path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Application/System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Ops Agent Receiver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Processor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Logging/Monitoring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Agent service is healthy and expected log/metric names appear with resource labels.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Ops Agent telemetry path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collect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enrich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Agent service is healthy and expected log/metric names appear with resource labels.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Ops Agent telemetry path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sudo systemctl status google-cloud-ops-agent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sudo /opt/stackdriver/stack-config/config-checker --config-path=/etc/google-cloud-ops-agent/config.yaml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Resource Management and Monitoring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A5 · K2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ops-agent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Ops Agent telemetry path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invalid YAML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agent service account lacks 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duplicate ingestion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Agent service is healthy and expected log/metric names appear with resource labels.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Evidence-led escalation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Metrics And 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Owner And Next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Escalation pack is reproducible, secret-safe and states what remains unknown.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Evidence-led escalation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stabilize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expected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attempt safe fix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escalate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Escalation pack is reproducible, secret-safe and states what remains unknown.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Evidence-led escalation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logging read 'timestamp&gt;=\"2026-09-12T00:00:00Z\" AND severity&gt;=ERROR' --limit=100 --format=json &gt; incident-logs.json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Resource Management and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A5 · K2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incident-response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09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Evidence-led escalation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screenshots without timestamps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credentials in logs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rollback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Escalation pack is reproducible, secret-safe and states what remains unknown.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90 MIN · A5,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Monitoring Evidence and an Incident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662940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1554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6053328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log-based error metric and alert policy, trigger a synthetic fault and assemble escalation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1691640"/>
            <a:ext cx="3950208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27264" y="1920240"/>
            <a:ext cx="329184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2322576"/>
            <a:ext cx="3310128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alert-policy.json, incident timeline and filtered log bundle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78224"/>
            <a:ext cx="1874519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alert-policy.json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078224"/>
            <a:ext cx="1874519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incident_timeline.csv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791456"/>
            <a:ext cx="10835640" cy="78638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4956048"/>
            <a:ext cx="1024128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Full click-by-click instructions are in the Learner Guide and Activity PDF. This slide shows the work product, not the procedure.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9 system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prepare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generate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Create a log-based error metric and alert policy, trigger a synthetic fault and assemble escalation evidence.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ALERT-POLICY.JSON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9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  "displayName": "ACE application error rate",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96896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96896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  "combiner": "OR",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898648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98648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  "conditions": [{"displayName": "Errors above threshold", "conditionThreshold": {"filter": "metric.type=\"logging.googleapis.com/user/app_errors\"", "comparison": "COMPARISON_GT", "thresholdValue": 2, "duration": "60s"}}]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200400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00400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Use placeholders for project-specific values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Run only in the isolated training project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both success and failure output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Keep secrets out of submitted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9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project or region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insufficient IAM or disabled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observed output does not meet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Accept when alert-policy.json, incident timeline and filtered log bundle are complete, timestamped and reproducible.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DAY 3 · PAUSE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Lunch and resource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49424"/>
            <a:ext cx="1051560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61B26"/>
                </a:solidFill>
                <a:latin typeface="Arial"/>
              </a:rPr>
              <a:t>Before you step away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15568" y="3877056"/>
            <a:ext cx="2286000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3913632"/>
            <a:ext cx="21945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Stop test traffic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5615" y="3877056"/>
            <a:ext cx="2286000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1335" y="3913632"/>
            <a:ext cx="21945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Check active 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55664" y="3877056"/>
            <a:ext cx="2286000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3" y="3913632"/>
            <a:ext cx="21945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Save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25712" y="3877056"/>
            <a:ext cx="2286000" cy="310896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3913632"/>
            <a:ext cx="21945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Do not leave tokens on 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DAY 3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3 evidence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Topic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Managed Services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Topic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Kubernetes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Topic 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Resource Management and Monitoring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Record expected versus observed output.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configuration is not complete until its observable state matches the acceptance criterion.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4663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A853"/>
                </a:solidFill>
                <a:latin typeface="Arial"/>
              </a:rPr>
              <a:t>TOPIC 10 · A6 · K2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96896"/>
            <a:ext cx="4663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61B26"/>
                </a:solidFill>
                <a:latin typeface="Arial"/>
              </a:rPr>
              <a:t>Load Balancing and Autoscaling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67328"/>
            <a:ext cx="46634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Operate scalable and highly available services</a:t>
            </a:r>
          </a:p>
        </p:txBody>
      </p:sp>
      <p:pic>
        <p:nvPicPr>
          <p:cNvPr id="8" name="Picture 7" descr="observability-autoscaling-hero.png"/>
          <p:cNvPicPr>
            <a:picLocks noChangeAspect="1"/>
          </p:cNvPicPr>
          <p:nvPr/>
        </p:nvPicPr>
        <p:blipFill>
          <a:blip r:embed="rId2"/>
          <a:srcRect l="6618" r="6618"/>
          <a:stretch>
            <a:fillRect/>
          </a:stretch>
        </p:blipFill>
        <p:spPr>
          <a:xfrm>
            <a:off x="6419088" y="1737360"/>
            <a:ext cx="507492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Application versus Network Load Balancers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Layer 7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Layer 4 Proxy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Layer 4 Passthrough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Internal/External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Choice states OSI layer, client reachability, scope and source-IP requirement.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Application versus Network Load Balancers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classify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proxy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backend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Choice states OSI layer, client reachability, scope and source-IP requirement.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Application versus Network Load Balancers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forwarding-rules list --format='table(name,loadBalancingScheme,IPProtocol,IPAddress,backendService)'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Load Balancing and Autoscaling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A6 · K2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load-balancing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10 · 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10 evidence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67665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827264" y="1783080"/>
            <a:ext cx="36576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27264" y="1783080"/>
            <a:ext cx="91440" cy="4069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7304" y="2029968"/>
            <a:ext cx="2971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523744"/>
            <a:ext cx="2926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controlled fault should move the signal away from baseline. The remediation is accepted only when it returns close to target and the exact configuration change is recorded.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4315968"/>
            <a:ext cx="292608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Indicative teaching data. Learners replace it with measurements from the aligned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Application Load Balancer request path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Forwarding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Target Proxy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Url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Backend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URL-map route and backend health explain where a request is sent.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Application Load Balancer request path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 anycast 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terminate TLS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match host/path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healthy backend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proxy request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URL-map route and backend health explain where a request is sent.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Application Load Balancer request path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url-maps describe ace-map --global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backend-services get-health ace-backend --global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Load Balancing and Autoscaling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A6 · K2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alb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Application Load Balancer request path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certificate not active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URL rule mismatch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health check firewall blocked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URL-map route and backend health explain where a request is sent.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Health checks versus application readiness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Probe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Protocol/Port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Request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Backend 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Probe path tests a dependency-light readiness endpoint and healthy thresholds match recovery needs.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Health checks versus application readiness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evaluate 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mark healthy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admit traffic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continue probing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Probe path tests a dependency-light readiness endpoint and healthy thresholds match recovery needs.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Health checks versus application readiness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health-checks describe ace-hc --global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Load Balancing and Autoscaling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A6 · K2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health-checks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Health checks versus application readiness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probe hits redirect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 listens different 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probe requires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Probe path tests a dependency-light readiness endpoint and healthy thresholds match recovery needs.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Managed instance group autoscaler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Cooldown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Min/Max Replicas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Observed group size rises under sustained load and returns after the stabilization period.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Managed instance group autoscaler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recommend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resize MIG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stabilize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group size rises under sustained load and returns after the stabilization period.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Managed instance group autoscaler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instance-groups managed set-autoscaling web-mig --region=asia-southeast1 --min-num-replicas=2 --max-num-replicas=10 --target-cpu-utilization=0.60 --cool-down-period=90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Load Balancing and Autoscaling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A6 · K2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mig-autoscaling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Managed instance group autoscaler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load below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cooldown masks change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max quota reached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Observed group size rises under sustained load and returns after the stabilization period.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Capacity math and backend saturation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Requests Per Second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Service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Concurrency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Instance 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Capacity estimate is compared with p95 latency and error rate from a controlled test.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Capacity math and backend saturation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 service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derive concurrency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headroom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max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Capacity estimate is compared with p95 latency and error rate from a controlled test.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Capacity math and backend saturation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python3 -c 'rps=240; seconds=.25; headroom=.7; print(round((rps*seconds)/headroom,1))'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Load Balancing and Autoscaling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A6 · K2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capacity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Capacity math and backend saturation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average hides p95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downstream bottleneck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warm-up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Capacity estimate is compared with p95 latency and error rate from a controlled test.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Traffic distribution and session affinity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Client Tuple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Hash/Affinity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Healthy Backend 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Connection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Affinity is enabled only when application state or protocol requires 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Traffic distribution and session affinity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track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rebalance on failure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Affinity is enabled only when application state or protocol requires it.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Traffic distribution and session affinity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backend-services describe ace-backend --global --format='value(sessionAffinity,localityLbPolicy,timeoutSec)'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Load Balancing and Autoscaling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A6 · K2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traffic-distribution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Traffic distribution and session affinity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sticky session hides imbalance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source IP changes through proxy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state not externalized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Affinity is enabled only when application state or protocol requires 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Autoscaling load-test evidence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Load Generator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Cloud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Mig 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Backend Latency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Test records target RPS, actual RPS, p95 latency, error rate and instance count over time.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Autoscaling load-test evidence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 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Test records target RPS, actual RPS, p95 latency, error rate and instance count over time.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Autoscaling load-test evidence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bash load_test.sh --url=$LB_URL --rps=240 --duration=300 &gt; load-results.csv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Load Balancing and Autoscaling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A6 · K2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load-testing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Autoscaling load-test evidence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client becomes bottleneck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DNS cached old 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 too short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Test records target RPS, actual RPS, p95 latency, error rate and instance count over time.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Escalation when scaling fails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Autoscaler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1. State and ownership must be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Quota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2. State and ownership must be explicit.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3. State and ownership must be explicit.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Audit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Boundary component 4. State and ownership must be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Scope first: Escalation identifies expected trigger, observed signal, blocking condition and safe attempts already made.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Escalation when scaling fails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collect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rule out quota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preserve load trace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34A85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escalate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Escalation identifies expected trigger, observed signal, blocking condition and safe attempts already made.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COMMAND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Escalation when scaling fails ·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instance-groups managed describe web-mig --region=asia-southeast1 --format=json &gt; mig.json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DCFE"/>
                </a:solidFill>
                <a:latin typeface="Courier New"/>
              </a:rPr>
              <a:t>gcloud compute operations list --filter='status!=DONE'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Scope: Load Balancing and Autoscaling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Mapped: A6 · K2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stdout and exit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Source: official troubleshooting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Arial"/>
              </a:rPr>
              <a:t>TOPIC 10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Escalation when scaling fails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manual resize destroys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region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quota error omitted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Escalation identifies expected trigger, observed signal, blocking condition and safe attempts already made.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120 MIN · A5, A6,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Test a Managed Instance Group and Escalate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662940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1554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6053328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Apply health checking and CPU autoscaling to a managed instance group, run a controlled load test and escalate a scaling failure.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1691640"/>
            <a:ext cx="3950208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27264" y="1920240"/>
            <a:ext cx="329184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2322576"/>
            <a:ext cx="3310128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load-results.csv, MIG configuration and escalation report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78224"/>
            <a:ext cx="1874519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load_test.sh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078224"/>
            <a:ext cx="1874519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load-results.csv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4078224"/>
            <a:ext cx="1874519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4114800"/>
            <a:ext cx="1783079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escalation-template.md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791456"/>
            <a:ext cx="10835640" cy="78638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4956048"/>
            <a:ext cx="1024128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Full click-by-click instructions are in the Learner Guide and Activity PDF. This slide shows the work product, not the procedure.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10 system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prepare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generate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Apply health checking and CPU autoscaling to a managed instance group, run a controlled load test and escalate a scaling failure.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LOAD_TEST.SH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10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6437376" cy="42428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91440" cy="424281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B949E"/>
                </a:solidFill>
                <a:latin typeface="Courier New"/>
              </a:rPr>
              <a:t>#!/usr/bin/env bash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9514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set -euo pipefail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96896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96896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URL=${1:?Usage: load_test.sh URL}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898648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98648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for i in $(seq 1 120);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200400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00400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  code=$(curl -sS -o /dev/null -w '%{http_code}' "$URL")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502152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502152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  printf '%s,%s,%s\n' "$(date -u +%FT%TZ)" "$i" "$code"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803904"/>
            <a:ext cx="58338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Courier New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803904"/>
            <a:ext cx="535838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urier New"/>
              </a:rPr>
              <a:t>done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1700784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1700784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1883664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1883664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1828800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161B26"/>
                </a:solidFill>
                <a:latin typeface="Arial"/>
              </a:rPr>
              <a:t>Use placeholders for project-specific values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2761488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0064" y="2761488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62088" y="2944368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294436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2889504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Run only in the isolated training project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70064" y="3822191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70064" y="3822191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62088" y="4005072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62088" y="4005072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3950207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Capture both success and failure output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70064" y="4882896"/>
            <a:ext cx="4123944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70064" y="4882896"/>
            <a:ext cx="82296" cy="93268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562088" y="5065776"/>
            <a:ext cx="365760" cy="3657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62088" y="5065776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3296" y="5010912"/>
            <a:ext cx="3127248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Keep secrets out of submitted 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10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rial"/>
              </a:rPr>
              <a:t>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7627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project or region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255264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insufficient IAM or disabled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14800"/>
            <a:ext cx="5102352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4334256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79392"/>
            <a:ext cx="3995928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observed output does not meet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618488"/>
            <a:ext cx="49377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rial"/>
              </a:rPr>
              <a:t>VERIFICATION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56816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217627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17627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121408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Expected state is explicit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035808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3255264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2552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200400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Observed output is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114800"/>
            <a:ext cx="5385816" cy="932688"/>
          </a:xfrm>
          <a:prstGeom prst="rect">
            <a:avLst/>
          </a:prstGeom>
          <a:solidFill>
            <a:srgbClr val="E8F7EE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334256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334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279392"/>
            <a:ext cx="4279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Timestamp and scope are recorded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03520"/>
            <a:ext cx="1083564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Accept when load-results.csv, MIG configuration and escalation report are complete, timestamped and reproducible.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C04"/>
                </a:solidFill>
                <a:latin typeface="Arial"/>
              </a:rPr>
              <a:t>DAY 4 · PAUSE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Lunch and resource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49424"/>
            <a:ext cx="1051560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61B26"/>
                </a:solidFill>
                <a:latin typeface="Arial"/>
              </a:rPr>
              <a:t>Before you step away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15568" y="3877056"/>
            <a:ext cx="2286000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3913632"/>
            <a:ext cx="21945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Stop test traffic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5615" y="3877056"/>
            <a:ext cx="2286000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1335" y="3913632"/>
            <a:ext cx="21945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Check active 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55664" y="3877056"/>
            <a:ext cx="2286000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3" y="3913632"/>
            <a:ext cx="21945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Save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25712" y="3877056"/>
            <a:ext cx="2286000" cy="310896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3913632"/>
            <a:ext cx="21945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Do not leave tokens on 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DAY 4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4 evidence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Topic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Load Balancing and Autoscaling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Record expected versus observed output.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Record expected versus observed output.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Record expected versus observed output.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configuration is not complete until its observable state matches the acceptance criterion.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CLOSING ·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feedback and TRAQOM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Open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Use the trainer-provided QR or link.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Rate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Focus on clarity, practice and support.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Comment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Name the topic or activity when possible.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Wait for the confirmation screen.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Feedback is used to improve delivery while approved outcomes and assessment mappings remain controlled.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CLOSING ·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close-out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3512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8928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5856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Assessor verifies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24344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91271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Outcome recorded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26296" y="3227832"/>
            <a:ext cx="237744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509760" y="1856231"/>
            <a:ext cx="1883664" cy="2761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1856231"/>
            <a:ext cx="1883664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8" y="2249424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9424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273552"/>
            <a:ext cx="15544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Appeal if needed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785615"/>
            <a:ext cx="15544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19472"/>
            <a:ext cx="10835640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The LMS receives question-paper submissions only; trainer keys remain protected.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CLOSING ·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with TRAQOM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743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Assessment QR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Scan the correct assessment attendance record.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91640"/>
            <a:ext cx="82296" cy="2743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Confirm the displayed name.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82296" cy="2743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Timestamp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Submit inside the announced window.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691640"/>
            <a:ext cx="248716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691640"/>
            <a:ext cx="82296" cy="2743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56231"/>
            <a:ext cx="1508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Readback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32304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B6372"/>
                </a:solidFill>
                <a:latin typeface="Arial"/>
              </a:rPr>
              <a:t>Show confirmation if the roster is missing.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800600"/>
            <a:ext cx="18288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138928"/>
            <a:ext cx="10287000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 not leave until the trainer confirms both submission and assessment attendance.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943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Associate Cloud Engineer Training · TGS-2023041024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382512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82512"/>
            <a:ext cx="502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cp-infrastructure-hero.png"/>
          <p:cNvPicPr>
            <a:picLocks noChangeAspect="1"/>
          </p:cNvPicPr>
          <p:nvPr/>
        </p:nvPicPr>
        <p:blipFill>
          <a:blip r:embed="rId2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6" y="1005840"/>
            <a:ext cx="640080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591056"/>
            <a:ext cx="5303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530352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Operate from evidence, not assumption.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6472"/>
            <a:ext cx="530352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Google Associate Cloud Engineer Training
TGS-2023041024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864608"/>
            <a:ext cx="53035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https://www.tertiarycourses.com.sg/wsq-google-associate-cloud-engineer-training.html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